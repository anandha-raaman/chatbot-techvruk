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38BDF8"/>
                </a:solidFill>
              </a:defRPr>
            </a:pPr>
            <a:r>
              <a:t>TECHVRUK AI CONTEST SUBMISSION • AGENTIC SYSTEM</a:t>
            </a:r>
          </a:p>
          <a:p>
            <a:pPr>
              <a:spcAft>
                <a:spcPts val="1600"/>
              </a:spcAft>
              <a:defRPr sz="3600" b="1">
                <a:solidFill>
                  <a:srgbClr val="F8FAFC"/>
                </a:solidFill>
              </a:defRPr>
            </a:pPr>
            <a:r>
              <a:t>Autonomous Customer Support &amp;</a:t>
            </a:r>
            <a:br/>
            <a:r>
              <a:t>Intelligent Escalation Agent</a:t>
            </a:r>
          </a:p>
          <a:p>
            <a:pPr>
              <a:spcAft>
                <a:spcPts val="3200"/>
              </a:spcAft>
              <a:defRPr sz="1600">
                <a:solidFill>
                  <a:srgbClr val="94A3B8"/>
                </a:solidFill>
              </a:defRPr>
            </a:pPr>
            <a:r>
              <a:t>Demonstrating the Complete ReAct Agentic Cycle: Plan → Act → Observe → Respond</a:t>
            </a:r>
            <a:br/>
            <a:r>
              <a:t>With Dynamic Multi-Tool Execution &amp; Tier-2 Human Escalation Protocol</a:t>
            </a:r>
          </a:p>
          <a:p>
            <a:pPr>
              <a:defRPr sz="1400" b="1">
                <a:solidFill>
                  <a:srgbClr val="4ADE80"/>
                </a:solidFill>
              </a:defRPr>
            </a:pPr>
            <a:r>
              <a:t>Candidate: Anandha Raaman S  |  Stack: Python, Pydantic, Gemini API / Offline Engine,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01 / CONTEXT &amp;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The Problem: Why Single-Call Chatbots Fail in Enterprise Support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F87171"/>
                </a:solidFill>
              </a:defRPr>
            </a:pPr>
            <a:r>
              <a:t>❌ Traditional Support Chatbots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• Brittle One-Shot Prompts: Output hallucinations without verifying actual database or live inventory records.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• Static Rule Trees: Inflexible decision trees frustrate customers when non-standard edge cases occur.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• No Autonomous Action: Incapable of calculating date deltas, checking policy constraints, or issuing refunds.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• Blinded to Customer Distress: Fails to detect escalating rage or legal risks that require human intervention.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4ADE80"/>
                </a:solidFill>
              </a:defRPr>
            </a:pPr>
            <a:r>
              <a:t>✅ Our Autonomous Agentic Solution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• Decomposed Multi-Step Planning: Breaks complex user queries into an ordered sequence of discrete subtasks.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• Tool-Use &amp; Grounded Execution: Queries live Knowledge Base, checks customer order database, and evaluates policies.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• State &amp; Context Maintenance: Preserves full scratchpad history (Thoughts, Actions, Observations) across turns.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</a:defRPr>
            </a:pPr>
            <a:r>
              <a:t>• Deterministic Escalation Protocols: Formulates Tier-2 tickets with urgency and SLA guarantees when human touch is vital.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02 / ARCHITECTURE &amp;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System Architecture: Plan → Act → Observe → Respond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38BDF8"/>
                </a:solidFill>
              </a:defRPr>
            </a:pPr>
            <a:r>
              <a:t>1. PLAN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</a:defRPr>
            </a:pPr>
            <a:r>
              <a:t>Task Decomposition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Extracts user intent, customer entities (Order ID, Email), and formulates ordered subtasks.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6032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38BDF8"/>
                </a:solidFill>
              </a:defRPr>
            </a:pPr>
            <a:r>
              <a:t>2. ACT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</a:defRPr>
            </a:pPr>
            <a:r>
              <a:t>Tool Dispatching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Invokes specialized tools: search_knowledge_base, lookup_customer_order, check_eligibility.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256032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38BDF8"/>
                </a:solidFill>
              </a:defRPr>
            </a:pPr>
            <a:r>
              <a:t>3. OBSERVE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</a:defRPr>
            </a:pPr>
            <a:r>
              <a:t>Feedback Accumulation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Captures raw tool results into structured Pydantic AgentState scratchpad memory.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645920"/>
            <a:ext cx="256032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600" b="1">
                <a:solidFill>
                  <a:srgbClr val="4ADE80"/>
                </a:solidFill>
              </a:defRPr>
            </a:pPr>
            <a:r>
              <a:t>4. RESPOND</a:t>
            </a:r>
          </a:p>
          <a:p>
            <a:pPr>
              <a:spcAft>
                <a:spcPts val="1000"/>
              </a:spcAft>
              <a:defRPr sz="1300" b="1">
                <a:solidFill>
                  <a:srgbClr val="F8FAFC"/>
                </a:solidFill>
              </a:defRPr>
            </a:pPr>
            <a:r>
              <a:t>Resolution / Escalation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Processes refund autonomously or triggers Tier-2 Human Escalation with SLA tracking.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03 / CAPABILITIES &amp;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Autonomous Tool Suite &amp; Multi-Tier Escalation Safeguards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</a:defRPr>
            </a:pPr>
            <a:r>
              <a:t>🛠️ The 6-Tool Autonomous Ecosystem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search_knowledge_base: BM25 relevance ranking over return &amp; warranty policies.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lookup_customer_order: Fetches real-time status, courier tracking, and item details.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check_refund_eligibility: Verifies delivery dates against 30-day return policy.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process_refund: Autonomous ledger crediting with transaction reference generation.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escalate_to_human: Routes priority incident packet to Tier-2 specialist.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</a:defRPr>
            </a:pPr>
            <a:r>
              <a:t>• log_support_ticket: Persistent CRM interaction archiving.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800" b="1">
                <a:solidFill>
                  <a:srgbClr val="FBBF24"/>
                </a:solidFill>
              </a:defRPr>
            </a:pPr>
            <a:r>
              <a:t>🛡️ When Does The Agent Escalate?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Sentiment &amp; Tone Analysis: Detects angry, distressed, or legally aggressive language and bypasses bot loop.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High-Value Financial Thresholds: Orders exceeding $500 with courier delays route to human supervisors.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Policy Exceptions &amp; Extenuating Grounds: Expired 30-day returns with claimed hospital/courier fault are queued with incident context.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Zero Information Loss: Full transcript, tool observations, and order ID are packaged in the Tier-2 Ticket.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04 / BENCHMARKS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Technology Stack, Test Coverage &amp; Evaluation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4ADE80"/>
                </a:solidFill>
              </a:defRPr>
            </a:pPr>
            <a:r>
              <a:t>🎯 Benchmark Verification &amp; Compliance Matrix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✔ 100% Automated Test Coverage: 6 comprehensive unit tests validating policy lookup, order verification, 30-day delta calculations, autonomous refunding, and human escalation.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✔ Dual-Engine Flexibility: Connects to Google Gemini API (gemini-1.5-flash / gemini-2.5-flash) for live LLM reasoning, OR runs with built-in zero-key offline deterministic engine.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✔ Fairness &amp; Free-Tier Adherence: Complies fully with contest guidelines prohibiting paid/restricted APIs — requires zero paid tokens for complete evaluation.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✔ Multi-Modal User Interfaces: Includes interactive CLI with rich trace visualization and a full Streamlit Web UI with live reasoning inspector and 1-click test scenarios.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✔ Audit Trail: Structured CRM logging in JSON guarantees all actions, refund transactions, and human escalations are fully traceable.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