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388CFF"/>
                </a:solidFill>
                <a:latin typeface="Segoe UI"/>
              </a:defRPr>
            </a:pPr>
            <a:r>
              <a:t>PROJECT OVERVIEW &amp; CORE 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411480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CHATBOT TECHVRUK  |  SLIDE 01 OF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Chatbot Techvruk: Autonomous AI Task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Universal agentic task decomposition with live multi-currency budget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01568" cy="38404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039112"/>
            <a:ext cx="2889504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388CFF"/>
                </a:solidFill>
                <a:latin typeface="Segoe UI"/>
              </a:defRPr>
            </a:pPr>
            <a:r>
              <a:t>CAPABILITY 01</a:t>
            </a:r>
          </a:p>
          <a:p>
            <a:pPr>
              <a:spcAft>
                <a:spcPts val="400"/>
              </a:spcAft>
              <a:defRPr sz="1900" b="1">
                <a:solidFill>
                  <a:srgbClr val="F8FAFC"/>
                </a:solidFill>
                <a:latin typeface="Segoe UI"/>
              </a:defRPr>
            </a:pPr>
            <a:r>
              <a:t>Universal Task Planning</a:t>
            </a:r>
          </a:p>
          <a:p>
            <a:pPr>
              <a:spcAft>
                <a:spcPts val="1400"/>
              </a:spcAft>
              <a:defRPr sz="1200">
                <a:solidFill>
                  <a:srgbClr val="38BDF8"/>
                </a:solidFill>
                <a:latin typeface="Segoe UI"/>
              </a:defRPr>
            </a:pPr>
            <a:r>
              <a:t>Handles Any Objective</a:t>
            </a:r>
          </a:p>
          <a:p>
            <a:pPr>
              <a:lnSpc>
                <a:spcPct val="125000"/>
              </a:lnSpc>
              <a:defRPr sz="1250">
                <a:solidFill>
                  <a:srgbClr val="E2E8F0"/>
                </a:solidFill>
                <a:latin typeface="Segoe UI"/>
              </a:defRPr>
            </a:pPr>
            <a:r>
              <a:t>Moves far beyond narrow bots. Intelligently structures software launches, corporate events, travel itineraries, product marketing, home renovation, or academic research into logical phased milestones.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401568" cy="38404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039112"/>
            <a:ext cx="2889504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34D399"/>
                </a:solidFill>
                <a:latin typeface="Segoe UI"/>
              </a:defRPr>
            </a:pPr>
            <a:r>
              <a:t>CAPABILITY 02</a:t>
            </a:r>
          </a:p>
          <a:p>
            <a:pPr>
              <a:spcAft>
                <a:spcPts val="400"/>
              </a:spcAft>
              <a:defRPr sz="1900" b="1">
                <a:solidFill>
                  <a:srgbClr val="F8FAFC"/>
                </a:solidFill>
                <a:latin typeface="Segoe UI"/>
              </a:defRPr>
            </a:pPr>
            <a:r>
              <a:t>Arbitrary Currency Engine</a:t>
            </a:r>
          </a:p>
          <a:p>
            <a:pPr>
              <a:spcAft>
                <a:spcPts val="1400"/>
              </a:spcAft>
              <a:defRPr sz="1200">
                <a:solidFill>
                  <a:srgbClr val="38BDF8"/>
                </a:solidFill>
                <a:latin typeface="Segoe UI"/>
              </a:defRPr>
            </a:pPr>
            <a:r>
              <a:t>35+ Currencies with Safety Reserve</a:t>
            </a:r>
          </a:p>
          <a:p>
            <a:pPr>
              <a:lnSpc>
                <a:spcPct val="125000"/>
              </a:lnSpc>
              <a:defRPr sz="1250">
                <a:solidFill>
                  <a:srgbClr val="E2E8F0"/>
                </a:solidFill>
                <a:latin typeface="Segoe UI"/>
              </a:defRPr>
            </a:pPr>
            <a:r>
              <a:t>Seamlessly detects user-specified currencies in natural language (USD, EUR, INR, GBP, JPY, etc.). Rigorously isolates a mandatory 12% contingency reserve to prevent overruns.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83080"/>
            <a:ext cx="3401568" cy="38404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039112"/>
            <a:ext cx="2889504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A78BFA"/>
                </a:solidFill>
                <a:latin typeface="Segoe UI"/>
              </a:defRPr>
            </a:pPr>
            <a:r>
              <a:t>CAPABILITY 03</a:t>
            </a:r>
          </a:p>
          <a:p>
            <a:pPr>
              <a:spcAft>
                <a:spcPts val="400"/>
              </a:spcAft>
              <a:defRPr sz="1900" b="1">
                <a:solidFill>
                  <a:srgbClr val="F8FAFC"/>
                </a:solidFill>
                <a:latin typeface="Segoe UI"/>
              </a:defRPr>
            </a:pPr>
            <a:r>
              <a:t>Gemini 3.5 Flash Lite Core</a:t>
            </a:r>
          </a:p>
          <a:p>
            <a:pPr>
              <a:spcAft>
                <a:spcPts val="1400"/>
              </a:spcAft>
              <a:defRPr sz="1200">
                <a:solidFill>
                  <a:srgbClr val="38BDF8"/>
                </a:solidFill>
                <a:latin typeface="Segoe UI"/>
              </a:defRPr>
            </a:pPr>
            <a:r>
              <a:t>Sub-2s Real-Time Inference</a:t>
            </a:r>
          </a:p>
          <a:p>
            <a:pPr>
              <a:lnSpc>
                <a:spcPct val="125000"/>
              </a:lnSpc>
              <a:defRPr sz="1250">
                <a:solidFill>
                  <a:srgbClr val="E2E8F0"/>
                </a:solidFill>
                <a:latin typeface="Segoe UI"/>
              </a:defRPr>
            </a:pPr>
            <a:r>
              <a:t>Powered by Google Gemini 3.5 Flash Lite paired with an autonomous ReAct loop. Delivers transparent reasoning logs, live execution streaming (SSE), and interactive task checklists.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06440"/>
            <a:ext cx="10728655" cy="640080"/>
          </a:xfrm>
          <a:prstGeom prst="roundRect">
            <a:avLst/>
          </a:prstGeom>
          <a:solidFill>
            <a:srgbClr val="101624"/>
          </a:solidFill>
          <a:ln w="15240">
            <a:solidFill>
              <a:srgbClr val="2D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>
                <a:solidFill>
                  <a:srgbClr val="BED2F0"/>
                </a:solidFill>
                <a:latin typeface="Segoe UI"/>
              </a:defRPr>
            </a:pPr>
            <a:r>
              <a:t>✦ Key Innovation: The user never touches manual currency dropdowns; the agent extracts context, verifies math with internal tools, and outputs ready-to-execute plans.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388CFF"/>
                </a:solidFill>
                <a:latin typeface="Segoe UI"/>
              </a:defRPr>
            </a:pPr>
            <a:r>
              <a:t>CHALLENGE &amp; BREAKTHROUGH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411480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CHATBOT TECHVRUK  |  SLIDE 02 OF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Why Standard LLMs Fail vs. The Agentic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Overcoming superficial prompting with mathematical rigor and autonomous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30368" cy="466344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46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81728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F87171"/>
                </a:solidFill>
                <a:latin typeface="Segoe UI"/>
              </a:defRPr>
            </a:pPr>
            <a:r>
              <a:t>THE PROBLEM: TRADITIONAL CHATBOTS</a:t>
            </a:r>
          </a:p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•  Hallucinated Financials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   Generates random numbers without verifying if line items exceed the user's budget ceiling or account for hidden costs.</a:t>
            </a:r>
          </a:p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•  Static &amp; Brittle Output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   Provides generic, unchangeable text lists. Cannot dynamically recalculate when currencies, timelines, or scopes shift.</a:t>
            </a:r>
          </a:p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•  Zero Dependency Checking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   Lists tasks without sequencing prerequisites, causing bottlenecks and unviable project schedules.</a:t>
            </a:r>
          </a:p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•  No Risk Safeguards</a:t>
            </a:r>
          </a:p>
          <a:p>
            <a:pPr>
              <a:spcAft>
                <a:spcPts val="10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   Fails to reserve contingency funds, leaving the plan vulnerable to price shocks and sudden delays.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783080"/>
            <a:ext cx="5230368" cy="466344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34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1384" y="2057400"/>
            <a:ext cx="4681728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4D399"/>
                </a:solidFill>
                <a:latin typeface="Segoe UI"/>
              </a:defRPr>
            </a:pPr>
            <a:r>
              <a:t>THE BREAKTHROUGH: CHATBOT TECHVRUK</a:t>
            </a:r>
          </a:p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✓  Audited Mathematical Accuracy</a:t>
            </a:r>
          </a:p>
          <a:p>
            <a:pPr>
              <a:spcAft>
                <a:spcPts val="1000"/>
              </a:spcAft>
              <a:defRPr sz="1150">
                <a:solidFill>
                  <a:srgbClr val="E2E8F0"/>
                </a:solidFill>
                <a:latin typeface="Segoe UI"/>
              </a:defRPr>
            </a:pPr>
            <a:r>
              <a:t>   Every single phase and milestone cost is audited via internal tools. Total expenditure is mathematically guaranteed ≤ user budget.</a:t>
            </a:r>
          </a:p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✓  Dynamic ReAct Architecture</a:t>
            </a:r>
          </a:p>
          <a:p>
            <a:pPr>
              <a:spcAft>
                <a:spcPts val="1000"/>
              </a:spcAft>
              <a:defRPr sz="1150">
                <a:solidFill>
                  <a:srgbClr val="E2E8F0"/>
                </a:solidFill>
                <a:latin typeface="Segoe UI"/>
              </a:defRPr>
            </a:pPr>
            <a:r>
              <a:t>   Runs an autonomous Plan → Act → Observe loop that iteratively verifies feasibility and refines resource allocation.</a:t>
            </a:r>
          </a:p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✓  12% Built-In Contingency</a:t>
            </a:r>
          </a:p>
          <a:p>
            <a:pPr>
              <a:spcAft>
                <a:spcPts val="1000"/>
              </a:spcAft>
              <a:defRPr sz="1150">
                <a:solidFill>
                  <a:srgbClr val="E2E8F0"/>
                </a:solidFill>
                <a:latin typeface="Segoe UI"/>
              </a:defRPr>
            </a:pPr>
            <a:r>
              <a:t>   Automatically partitions 12% of total capital into an emergency reserve before calculating deployable subtask funds.</a:t>
            </a:r>
          </a:p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✓  Multi-Plan Interactive Session</a:t>
            </a:r>
          </a:p>
          <a:p>
            <a:pPr>
              <a:spcAft>
                <a:spcPts val="1000"/>
              </a:spcAft>
              <a:defRPr sz="1150">
                <a:solidFill>
                  <a:srgbClr val="E2E8F0"/>
                </a:solidFill>
                <a:latin typeface="Segoe UI"/>
              </a:defRPr>
            </a:pPr>
            <a:r>
              <a:t>   Generates unlimited distinct plans in a single chat with live interactive checklists and instant follow-up refinement.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388C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411480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CHATBOT TECHVRUK  |  SLIDE 03 OF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The 5-Stage ReAct Execution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End-to-end autonomous flow connecting user intent to live-streamed actionable plans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993392" cy="38404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1664208" cy="3438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388CFF"/>
                </a:solidFill>
                <a:latin typeface="Segoe UI"/>
              </a:defRPr>
            </a:pPr>
            <a:r>
              <a:t>PHASE 01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Segoe UI"/>
              </a:defRPr>
            </a:pPr>
            <a:r>
              <a:t>PARSE &amp; PLAN</a:t>
            </a:r>
          </a:p>
          <a:p>
            <a:pPr>
              <a:spcAft>
                <a:spcPts val="1200"/>
              </a:spcAft>
              <a:defRPr sz="1050">
                <a:solidFill>
                  <a:srgbClr val="388CFF"/>
                </a:solidFill>
                <a:latin typeface="Segoe UI"/>
              </a:defRPr>
            </a:pPr>
            <a:r>
              <a:t>User Input</a:t>
            </a:r>
          </a:p>
          <a:p>
            <a:pPr>
              <a:lnSpc>
                <a:spcPct val="120000"/>
              </a:lnSpc>
              <a:defRPr sz="1150">
                <a:solidFill>
                  <a:srgbClr val="E2E8F0"/>
                </a:solidFill>
                <a:latin typeface="Segoe UI"/>
              </a:defRPr>
            </a:pPr>
            <a:r>
              <a:t>Deconstructs query, classifies domain (Tech, Travel, Event, etc.), and extracts budget amount &amp; currency in background.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1783080"/>
            <a:ext cx="1993392" cy="38404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72384" y="1984248"/>
            <a:ext cx="1664208" cy="3438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38BDF8"/>
                </a:solidFill>
                <a:latin typeface="Segoe UI"/>
              </a:defRPr>
            </a:pPr>
            <a:r>
              <a:t>PHASE 02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Segoe UI"/>
              </a:defRPr>
            </a:pPr>
            <a:r>
              <a:t>ACT (TOOLS)</a:t>
            </a:r>
          </a:p>
          <a:p>
            <a:pPr>
              <a:spcAft>
                <a:spcPts val="1200"/>
              </a:spcAft>
              <a:defRPr sz="1050">
                <a:solidFill>
                  <a:srgbClr val="38BDF8"/>
                </a:solidFill>
                <a:latin typeface="Segoe UI"/>
              </a:defRPr>
            </a:pPr>
            <a:r>
              <a:t>Tool Invocation</a:t>
            </a:r>
          </a:p>
          <a:p>
            <a:pPr>
              <a:lnSpc>
                <a:spcPct val="120000"/>
              </a:lnSpc>
              <a:defRPr sz="1150">
                <a:solidFill>
                  <a:srgbClr val="E2E8F0"/>
                </a:solidFill>
                <a:latin typeface="Segoe UI"/>
              </a:defRPr>
            </a:pPr>
            <a:r>
              <a:t>Executes specialized tools: CurrencyConverter, BudgetCalculator, ScheduleEstimator, and RiskEvaluator.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783080"/>
            <a:ext cx="1993392" cy="38404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8656" y="1984248"/>
            <a:ext cx="1664208" cy="3438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34D399"/>
                </a:solidFill>
                <a:latin typeface="Segoe UI"/>
              </a:defRPr>
            </a:pPr>
            <a:r>
              <a:t>PHASE 03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Segoe UI"/>
              </a:defRPr>
            </a:pPr>
            <a:r>
              <a:t>OBSERVE</a:t>
            </a:r>
          </a:p>
          <a:p>
            <a:pPr>
              <a:spcAft>
                <a:spcPts val="1200"/>
              </a:spcAft>
              <a:defRPr sz="1050">
                <a:solidFill>
                  <a:srgbClr val="34D399"/>
                </a:solidFill>
                <a:latin typeface="Segoe UI"/>
              </a:defRPr>
            </a:pPr>
            <a:r>
              <a:t>Audit &amp; Metrics</a:t>
            </a:r>
          </a:p>
          <a:p>
            <a:pPr>
              <a:lnSpc>
                <a:spcPct val="120000"/>
              </a:lnSpc>
              <a:defRPr sz="1150">
                <a:solidFill>
                  <a:srgbClr val="E2E8F0"/>
                </a:solidFill>
                <a:latin typeface="Segoe UI"/>
              </a:defRPr>
            </a:pPr>
            <a:r>
              <a:t>Inspects tool results, calculates Feasibility Score (1-100), and validates financial ceiling &amp; timeline constraints.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783080"/>
            <a:ext cx="1993392" cy="38404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4928" y="1984248"/>
            <a:ext cx="1664208" cy="3438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FBBF24"/>
                </a:solidFill>
                <a:latin typeface="Segoe UI"/>
              </a:defRPr>
            </a:pPr>
            <a:r>
              <a:t>PHASE 04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Segoe UI"/>
              </a:defRPr>
            </a:pPr>
            <a:r>
              <a:t>ADJUST</a:t>
            </a:r>
          </a:p>
          <a:p>
            <a:pPr>
              <a:spcAft>
                <a:spcPts val="1200"/>
              </a:spcAft>
              <a:defRPr sz="1050">
                <a:solidFill>
                  <a:srgbClr val="FBBF24"/>
                </a:solidFill>
                <a:latin typeface="Segoe UI"/>
              </a:defRPr>
            </a:pPr>
            <a:r>
              <a:t>Rebalancing</a:t>
            </a:r>
          </a:p>
          <a:p>
            <a:pPr>
              <a:lnSpc>
                <a:spcPct val="120000"/>
              </a:lnSpc>
              <a:defRPr sz="1150">
                <a:solidFill>
                  <a:srgbClr val="E2E8F0"/>
                </a:solidFill>
                <a:latin typeface="Segoe UI"/>
              </a:defRPr>
            </a:pPr>
            <a:r>
              <a:t>Rebalances phase funds, establishes dependency sequences, locks 12% contingency, and tags task priorities.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783080"/>
            <a:ext cx="1993392" cy="38404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1984248"/>
            <a:ext cx="1664208" cy="3438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A78BFA"/>
                </a:solidFill>
                <a:latin typeface="Segoe UI"/>
              </a:defRPr>
            </a:pPr>
            <a:r>
              <a:t>PHASE 05</a:t>
            </a:r>
          </a:p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Segoe UI"/>
              </a:defRPr>
            </a:pPr>
            <a:r>
              <a:t>STREAM</a:t>
            </a:r>
          </a:p>
          <a:p>
            <a:pPr>
              <a:spcAft>
                <a:spcPts val="1200"/>
              </a:spcAft>
              <a:defRPr sz="1050">
                <a:solidFill>
                  <a:srgbClr val="A78BFA"/>
                </a:solidFill>
                <a:latin typeface="Segoe UI"/>
              </a:defRPr>
            </a:pPr>
            <a:r>
              <a:t>Client Delivery</a:t>
            </a:r>
          </a:p>
          <a:p>
            <a:pPr>
              <a:lnSpc>
                <a:spcPct val="120000"/>
              </a:lnSpc>
              <a:defRPr sz="1150">
                <a:solidFill>
                  <a:srgbClr val="E2E8F0"/>
                </a:solidFill>
                <a:latin typeface="Segoe UI"/>
              </a:defRPr>
            </a:pPr>
            <a:r>
              <a:t>Streams execution steps via SSE, renders interactive UI checklist, and binds plan to the active session.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806440"/>
            <a:ext cx="10728655" cy="640080"/>
          </a:xfrm>
          <a:prstGeom prst="roundRect">
            <a:avLst/>
          </a:prstGeom>
          <a:solidFill>
            <a:srgbClr val="101624"/>
          </a:solidFill>
          <a:ln w="15240">
            <a:solidFill>
              <a:srgbClr val="2D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>
                <a:solidFill>
                  <a:srgbClr val="BED2F0"/>
                </a:solidFill>
                <a:latin typeface="Segoe UI"/>
              </a:defRPr>
            </a:pPr>
            <a:r>
              <a:t>⚡ Transparency by Design: Users watch the agent's real-time thought trace in the slide-out execution drawer, establishing 100% explainability.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388CFF"/>
                </a:solidFill>
                <a:latin typeface="Segoe UI"/>
              </a:defRPr>
            </a:pPr>
            <a:r>
              <a:t>FINANCIAL PRECISION &amp; MULTI-CURRENCY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411480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CHATBOT TECHVRUK  |  SLIDE 04 OF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Zero-Debt Financial Architecture &amp; Global Budgeting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Deterministic budget enforcement and currency flexibility without UI friction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01568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944368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35+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Segoe UI"/>
              </a:defRPr>
            </a:pPr>
            <a:r>
              <a:t>Global Currencies</a:t>
            </a:r>
          </a:p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USD ($), EUR (€), INR (₹), GBP (£), JPY (¥), CAD, AUD, AED, CHF, SGD, etc. Automatically identified from natural language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401568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965960"/>
            <a:ext cx="2944368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4D399"/>
                </a:solidFill>
                <a:latin typeface="Segoe UI"/>
              </a:defRPr>
            </a:pPr>
            <a:r>
              <a:t>12%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Segoe UI"/>
              </a:defRPr>
            </a:pPr>
            <a:r>
              <a:t>Mandatory Safety Reserve</a:t>
            </a:r>
          </a:p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Every plan isolates 12% upfront before line-item budgeting to safeguard against inflation, unexpected fees, and scope changes.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83080"/>
            <a:ext cx="3401568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965960"/>
            <a:ext cx="2944368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Segoe UI"/>
              </a:defRPr>
            </a:pPr>
            <a:r>
              <a:t>100%</a:t>
            </a:r>
          </a:p>
          <a:p>
            <a:pPr>
              <a:spcAft>
                <a:spcPts val="400"/>
              </a:spcAft>
              <a:defRPr sz="1300" b="1">
                <a:solidFill>
                  <a:srgbClr val="F8FAFC"/>
                </a:solidFill>
                <a:latin typeface="Segoe UI"/>
              </a:defRPr>
            </a:pPr>
            <a:r>
              <a:t>Zero-Debt Guarantee</a:t>
            </a:r>
          </a:p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Mathematical validation ensures sum of milestones + contingency ≤ 100% of user budget. Overspending is impossible.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30368" cy="24688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39"/>
            <a:ext cx="4773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388CFF"/>
                </a:solidFill>
                <a:latin typeface="Segoe UI"/>
              </a:defRPr>
            </a:pPr>
            <a:r>
              <a:t>BACKGROUND CURRENCY EXTRACTION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Invisible Intelligence: The user writes 'budget 50,000 INR' or 'under €4000'. The engine extracts ISO code, symbol, and numeric ceiling seamlessly.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Multi-Symbol Recognition: Handles symbols ($ € ₹ £ ¥ C$ A$), ISO codes (INR, EUR, USD), and localized words ('rupees', 'euros', 'dollars', 'pounds').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Zero Clutter: Keeps the chat interface uncluttered and distraction-free.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3977639"/>
            <a:ext cx="5230368" cy="24688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4206239"/>
            <a:ext cx="4773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34D399"/>
                </a:solidFill>
                <a:latin typeface="Segoe UI"/>
              </a:defRPr>
            </a:pPr>
            <a:r>
              <a:t>PHASED COST &amp; TIMELINE ATTRIBUTION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Domain-Weighted Phasing: Allocates funds across phases (e.g. Discovery 20%, Execution 50%, Finalization 18%, Contingency 12%).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Line-Item Attribution: Every subtask specifies estimated cost, duration in days/hours, dependency prerequisites, and priority level.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Feasibility Index: Calculates a mathematical feasibility score (1-100) based on budget tightness, schedule risks, and scope depth.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388CFF"/>
                </a:solidFill>
                <a:latin typeface="Segoe UI"/>
              </a:defRPr>
            </a:pPr>
            <a:r>
              <a:t>PRODUCTION IMPACT &amp;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411480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CHATBOT TECHVRUK  |  SLIDE 05 OF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User Experience, Tech Stack &amp; Real-World 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 complete, full-stack agentic solution ready for enterprise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30368" cy="22402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65960"/>
            <a:ext cx="4718304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8CFF"/>
                </a:solidFill>
                <a:latin typeface="Segoe UI"/>
              </a:defRPr>
            </a:pPr>
            <a:r>
              <a:t>GEMINI-INSPIRED AESTHETICS</a:t>
            </a:r>
          </a:p>
          <a:p>
            <a:pPr>
              <a:spcAft>
                <a:spcPts val="800"/>
              </a:spcAft>
              <a:defRPr sz="1450" b="1">
                <a:solidFill>
                  <a:srgbClr val="F8FAFC"/>
                </a:solidFill>
                <a:latin typeface="Segoe UI"/>
              </a:defRPr>
            </a:pPr>
            <a:r>
              <a:t>Clean &amp; Modern Frontend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Sleek dark/light theme designed with Google Gemini design principles.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Floating pill composer, responsive suggestions, and smooth micro-interactions.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Multi-Plan Continuity: Generate multiple independent plans within a single continuous chat 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783080"/>
            <a:ext cx="5230368" cy="22402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965960"/>
            <a:ext cx="4718304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8BDF8"/>
                </a:solidFill>
                <a:latin typeface="Segoe UI"/>
              </a:defRPr>
            </a:pPr>
            <a:r>
              <a:t>INTERACTIVE WORKSPACE</a:t>
            </a:r>
          </a:p>
          <a:p>
            <a:pPr>
              <a:spcAft>
                <a:spcPts val="800"/>
              </a:spcAft>
              <a:defRPr sz="1450" b="1">
                <a:solidFill>
                  <a:srgbClr val="F8FAFC"/>
                </a:solidFill>
                <a:latin typeface="Segoe UI"/>
              </a:defRPr>
            </a:pPr>
            <a:r>
              <a:t>Actionable Task Tracking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Interactive Checklists: Real-time checkboxes with completion progress counters.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Risk &amp; Mitigation Drawer: Inspect contingency allocations and preemptive action plans.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Natural Follow-Up Queries: Dynamically request cost reductions, timeline shifts, or task expansions.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5230368" cy="22402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343400"/>
            <a:ext cx="4718304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A78BFA"/>
                </a:solidFill>
                <a:latin typeface="Segoe UI"/>
              </a:defRPr>
            </a:pPr>
            <a:r>
              <a:t>MODERN FULL-STACK STACK</a:t>
            </a:r>
          </a:p>
          <a:p>
            <a:pPr>
              <a:spcAft>
                <a:spcPts val="800"/>
              </a:spcAft>
              <a:defRPr sz="1450" b="1">
                <a:solidFill>
                  <a:srgbClr val="F8FAFC"/>
                </a:solidFill>
                <a:latin typeface="Segoe UI"/>
              </a:defRPr>
            </a:pPr>
            <a:r>
              <a:t>Engineered for Reliability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LLM Engine: Google Gemini 3.5 Flash Lite with automatic fallback to 3.8-flash and local Ollama.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Backend: Python Flask REST API with Server-Sent Events (SSE) for low-latency streaming.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Frontend: Zero-dependency Vanilla ES6+ JavaScript and hand-crafted CSS.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7064" y="4160520"/>
            <a:ext cx="5230368" cy="22402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6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4343400"/>
            <a:ext cx="4718304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4D399"/>
                </a:solidFill>
                <a:latin typeface="Segoe UI"/>
              </a:defRPr>
            </a:pPr>
            <a:r>
              <a:t>ENTERPRISE UTILITY &amp; EXPORTS</a:t>
            </a:r>
          </a:p>
          <a:p>
            <a:pPr>
              <a:spcAft>
                <a:spcPts val="800"/>
              </a:spcAft>
              <a:defRPr sz="1450" b="1">
                <a:solidFill>
                  <a:srgbClr val="F8FAFC"/>
                </a:solidFill>
                <a:latin typeface="Segoe UI"/>
              </a:defRPr>
            </a:pPr>
            <a:r>
              <a:t>Ready for Deployment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Multi-Format Exports: One-click export to Markdown (.md), structured JSON (.json), and print view.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100% Zero-Leak Security: API credentials strictly protected in .env with automated exclusion.</a:t>
            </a:r>
          </a:p>
          <a:p>
            <a:pPr>
              <a:spcAft>
                <a:spcPts val="300"/>
              </a:spcAft>
              <a:defRPr sz="1100">
                <a:solidFill>
                  <a:srgbClr val="E2E8F0"/>
                </a:solidFill>
                <a:latin typeface="Segoe UI"/>
              </a:defRPr>
            </a:pPr>
            <a:r>
              <a:t>• High Impact: Transforms multi-hour manual planning into a 2-second verified execution roadmap.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