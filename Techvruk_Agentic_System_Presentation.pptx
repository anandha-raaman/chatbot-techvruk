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9B72CB"/>
                </a:solidFill>
              </a:defRPr>
            </a:pPr>
            <a:r>
              <a:t>✦ Chatbot Techvruk</a:t>
            </a:r>
          </a:p>
          <a:p>
            <a:pPr>
              <a:defRPr sz="1800">
                <a:solidFill>
                  <a:srgbClr val="8E918F"/>
                </a:solidFill>
              </a:defRPr>
            </a:pPr>
            <a:r>
              <a:t>Autonomous Multi-Currency AI Agent for General Task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800"/>
              </a:spcAft>
              <a:defRPr sz="2000">
                <a:solidFill>
                  <a:srgbClr val="F0F4F9"/>
                </a:solidFill>
              </a:defRPr>
            </a:pPr>
            <a:r>
              <a:t>• Autonomous ReAct Workflow: Plan -&gt; Act -&gt; Observe -&gt; Adjust -&gt; Respond</a:t>
            </a:r>
          </a:p>
          <a:p>
            <a:pPr>
              <a:spcAft>
                <a:spcPts val="1800"/>
              </a:spcAft>
              <a:defRPr sz="2000">
                <a:solidFill>
                  <a:srgbClr val="F0F4F9"/>
                </a:solidFill>
              </a:defRPr>
            </a:pPr>
            <a:r>
              <a:t>• General-Purpose: Plans ANY task (Travel, Software MVP, Events, Marketing, Renovation, etc.)</a:t>
            </a:r>
          </a:p>
          <a:p>
            <a:pPr>
              <a:spcAft>
                <a:spcPts val="1800"/>
              </a:spcAft>
              <a:defRPr sz="2000">
                <a:solidFill>
                  <a:srgbClr val="F0F4F9"/>
                </a:solidFill>
              </a:defRPr>
            </a:pPr>
            <a:r>
              <a:t>• Arbitrary Multi-Currency Budgeting: 35+ Global Currencies with 12% Contingency Reserve</a:t>
            </a:r>
          </a:p>
          <a:p>
            <a:pPr>
              <a:spcAft>
                <a:spcPts val="1800"/>
              </a:spcAft>
              <a:defRPr sz="2000">
                <a:solidFill>
                  <a:srgbClr val="F0F4F9"/>
                </a:solidFill>
              </a:defRPr>
            </a:pPr>
            <a:r>
              <a:t>• Production-Grade Gemini UI: Real-time execution streaming, interactive checklist, and exports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4285F4"/>
                </a:solidFill>
              </a:defRPr>
            </a:pPr>
            <a:r>
              <a:t>Problem Statement &amp; Why One-Shot LLMs Fail</a:t>
            </a:r>
          </a:p>
          <a:p>
            <a:pPr>
              <a:defRPr sz="1800">
                <a:solidFill>
                  <a:srgbClr val="8E918F"/>
                </a:solidFill>
              </a:defRPr>
            </a:pPr>
            <a:r>
              <a:t>Moving from Superficial Prompting to True Autonomous Agentic Behavior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800"/>
              </a:spcAft>
              <a:defRPr sz="2000">
                <a:solidFill>
                  <a:srgbClr val="F0F4F9"/>
                </a:solidFill>
              </a:defRPr>
            </a:pPr>
            <a:r>
              <a:t>• The Failure of Single-Shot LLMs: Generates static bullet lists without budget verification or currency checks.</a:t>
            </a:r>
          </a:p>
          <a:p>
            <a:pPr>
              <a:spcAft>
                <a:spcPts val="1800"/>
              </a:spcAft>
              <a:defRPr sz="2000">
                <a:solidFill>
                  <a:srgbClr val="F0F4F9"/>
                </a:solidFill>
              </a:defRPr>
            </a:pPr>
            <a:r>
              <a:t>• Zero Financial Constraints: Traditional LLMs cannot guarantee that line items stay within budget caps.</a:t>
            </a:r>
          </a:p>
          <a:p>
            <a:pPr>
              <a:spcAft>
                <a:spcPts val="1800"/>
              </a:spcAft>
              <a:defRPr sz="2000">
                <a:solidFill>
                  <a:srgbClr val="F0F4F9"/>
                </a:solidFill>
              </a:defRPr>
            </a:pPr>
            <a:r>
              <a:t>• The Solution: Multi-step ReAct pattern where the agent uses computational tools to verify every number.</a:t>
            </a:r>
          </a:p>
          <a:p>
            <a:pPr>
              <a:spcAft>
                <a:spcPts val="1800"/>
              </a:spcAft>
              <a:defRPr sz="2000">
                <a:solidFill>
                  <a:srgbClr val="F0F4F9"/>
                </a:solidFill>
              </a:defRPr>
            </a:pPr>
            <a:r>
              <a:t>• Feasibility Index: Calculates mathematical feasibility and safeguards contingency funds against unexpected spikes.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4285F4"/>
                </a:solidFill>
              </a:defRPr>
            </a:pPr>
            <a:r>
              <a:t>System Architecture &amp; The 5-Stage ReAct Loop</a:t>
            </a:r>
          </a:p>
          <a:p>
            <a:pPr>
              <a:defRPr sz="1800">
                <a:solidFill>
                  <a:srgbClr val="8E918F"/>
                </a:solidFill>
              </a:defRPr>
            </a:pPr>
            <a:r>
              <a:t>Transparent Execution Pipeline with Real-Time Server-Sent Events (SSE)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800"/>
              </a:spcAft>
              <a:defRPr sz="2000">
                <a:solidFill>
                  <a:srgbClr val="F0F4F9"/>
                </a:solidFill>
              </a:defRPr>
            </a:pPr>
            <a:r>
              <a:t>• 1. PLAN: Deconstructs user intent, classifies domain, and extracts budget &amp; currency parameters.</a:t>
            </a:r>
          </a:p>
          <a:p>
            <a:pPr>
              <a:spcAft>
                <a:spcPts val="1800"/>
              </a:spcAft>
              <a:defRPr sz="2000">
                <a:solidFill>
                  <a:srgbClr val="F0F4F9"/>
                </a:solidFill>
              </a:defRPr>
            </a:pPr>
            <a:r>
              <a:t>• 2. ACT: Executes 6 specialized tools (CurrencyConverter, BudgetCalculator, ScheduleEstimator, RiskEvaluator, ResourceFinder, KnowledgeRetriever).</a:t>
            </a:r>
          </a:p>
          <a:p>
            <a:pPr>
              <a:spcAft>
                <a:spcPts val="1800"/>
              </a:spcAft>
              <a:defRPr sz="2000">
                <a:solidFill>
                  <a:srgbClr val="F0F4F9"/>
                </a:solidFill>
              </a:defRPr>
            </a:pPr>
            <a:r>
              <a:t>• 3. OBSERVE: Validates financial feasibility, checks constraints, and assesses risk probability/impact.</a:t>
            </a:r>
          </a:p>
          <a:p>
            <a:pPr>
              <a:spcAft>
                <a:spcPts val="1800"/>
              </a:spcAft>
              <a:defRPr sz="2000">
                <a:solidFill>
                  <a:srgbClr val="F0F4F9"/>
                </a:solidFill>
              </a:defRPr>
            </a:pPr>
            <a:r>
              <a:t>• 4. ADJUST: Rebalances phase allocations, resolves dependency sequencing, and tags priorities.</a:t>
            </a:r>
          </a:p>
          <a:p>
            <a:pPr>
              <a:spcAft>
                <a:spcPts val="1800"/>
              </a:spcAft>
              <a:defRPr sz="2000">
                <a:solidFill>
                  <a:srgbClr val="F0F4F9"/>
                </a:solidFill>
              </a:defRPr>
            </a:pPr>
            <a:r>
              <a:t>• 5. RESPOND: Synthesizes final actionable plan and streams execution steps live to the client.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4285F4"/>
                </a:solidFill>
              </a:defRPr>
            </a:pPr>
            <a:r>
              <a:t>Multi-Currency &amp; Financial Feasibility Engine</a:t>
            </a:r>
          </a:p>
          <a:p>
            <a:pPr>
              <a:defRPr sz="1800">
                <a:solidFill>
                  <a:srgbClr val="8E918F"/>
                </a:solidFill>
              </a:defRPr>
            </a:pPr>
            <a:r>
              <a:t>Strict Budget Control in Any Currency with Zero Debt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800"/>
              </a:spcAft>
              <a:defRPr sz="2000">
                <a:solidFill>
                  <a:srgbClr val="F0F4F9"/>
                </a:solidFill>
              </a:defRPr>
            </a:pPr>
            <a:r>
              <a:t>• 35+ World Currencies Supported: USD ($), EUR (€), INR (₹), GBP (£), JPY (¥), CAD (C$), AUD (A$), AED, CHF, SGD, etc.</a:t>
            </a:r>
          </a:p>
          <a:p>
            <a:pPr>
              <a:spcAft>
                <a:spcPts val="1800"/>
              </a:spcAft>
              <a:defRPr sz="2000">
                <a:solidFill>
                  <a:srgbClr val="F0F4F9"/>
                </a:solidFill>
              </a:defRPr>
            </a:pPr>
            <a:r>
              <a:t>• Dedicated 12% Contingency Buffer: Automatically set aside to protect against price volatility and fees.</a:t>
            </a:r>
          </a:p>
          <a:p>
            <a:pPr>
              <a:spcAft>
                <a:spcPts val="1800"/>
              </a:spcAft>
              <a:defRPr sz="2000">
                <a:solidFill>
                  <a:srgbClr val="F0F4F9"/>
                </a:solidFill>
              </a:defRPr>
            </a:pPr>
            <a:r>
              <a:t>• Phased Fund Allocation: Distributes deployable funds proportionally based on domain benchmarks.</a:t>
            </a:r>
          </a:p>
          <a:p>
            <a:pPr>
              <a:spcAft>
                <a:spcPts val="1800"/>
              </a:spcAft>
              <a:defRPr sz="2000">
                <a:solidFill>
                  <a:srgbClr val="F0F4F9"/>
                </a:solidFill>
              </a:defRPr>
            </a:pPr>
            <a:r>
              <a:t>• Granular Cost &amp; Time Attribution: Every single subtask receives localized cost, duration, and tool tags.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4285F4"/>
                </a:solidFill>
              </a:defRPr>
            </a:pPr>
            <a:r>
              <a:t>Key Deliverables, UI Excellence &amp; Impact</a:t>
            </a:r>
          </a:p>
          <a:p>
            <a:pPr>
              <a:defRPr sz="1800">
                <a:solidFill>
                  <a:srgbClr val="8E918F"/>
                </a:solidFill>
              </a:defRPr>
            </a:pPr>
            <a:r>
              <a:t>Complete Full-Stack Implementation Ready for 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800"/>
              </a:spcAft>
              <a:defRPr sz="2000">
                <a:solidFill>
                  <a:srgbClr val="F0F4F9"/>
                </a:solidFill>
              </a:defRPr>
            </a:pPr>
            <a:r>
              <a:t>• Google Gemini Aesthetics: Clean dark/light theme, floating pill composer, and real-time execution trace drawer.</a:t>
            </a:r>
          </a:p>
          <a:p>
            <a:pPr>
              <a:spcAft>
                <a:spcPts val="1800"/>
              </a:spcAft>
              <a:defRPr sz="2000">
                <a:solidFill>
                  <a:srgbClr val="F0F4F9"/>
                </a:solidFill>
              </a:defRPr>
            </a:pPr>
            <a:r>
              <a:t>• Interactive Task Workspace: Check off completed subtasks, view dependencies, and inspect risk mitigations.</a:t>
            </a:r>
          </a:p>
          <a:p>
            <a:pPr>
              <a:spcAft>
                <a:spcPts val="1800"/>
              </a:spcAft>
              <a:defRPr sz="2000">
                <a:solidFill>
                  <a:srgbClr val="F0F4F9"/>
                </a:solidFill>
              </a:defRPr>
            </a:pPr>
            <a:r>
              <a:t>• Follow-Up Chat Refinement: Ask the agent to reduce expenses, shorten timelines, or explain tasks dynamically.</a:t>
            </a:r>
          </a:p>
          <a:p>
            <a:pPr>
              <a:spcAft>
                <a:spcPts val="1800"/>
              </a:spcAft>
              <a:defRPr sz="2000">
                <a:solidFill>
                  <a:srgbClr val="F0F4F9"/>
                </a:solidFill>
              </a:defRPr>
            </a:pPr>
            <a:r>
              <a:t>• Multi-Format Exports: Instant export to Markdown (.md), structured JSON (.json), and printable views.</a:t>
            </a:r>
          </a:p>
          <a:p>
            <a:pPr>
              <a:spcAft>
                <a:spcPts val="1800"/>
              </a:spcAft>
              <a:defRPr sz="2000">
                <a:solidFill>
                  <a:srgbClr val="F0F4F9"/>
                </a:solidFill>
              </a:defRPr>
            </a:pPr>
            <a:r>
              <a:t>• 100% Autonomous Out-of-the-Box: Zero paid API key dependency, with optional Google Gemini 2.5 Flash integration.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